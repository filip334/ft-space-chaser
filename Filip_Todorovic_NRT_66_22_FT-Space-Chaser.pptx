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0" y="-1280160"/>
            <a:ext cx="6583680" cy="6583680"/>
          </a:xfrm>
          <a:prstGeom prst="ellipse">
            <a:avLst/>
          </a:prstGeom>
          <a:noFill/>
          <a:ln w="15875">
            <a:solidFill>
              <a:srgbClr val="0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040879" y="-640080"/>
            <a:ext cx="5303520" cy="5303520"/>
          </a:xfrm>
          <a:prstGeom prst="ellipse">
            <a:avLst/>
          </a:prstGeom>
          <a:noFill/>
          <a:ln w="15875">
            <a:solidFill>
              <a:srgbClr val="0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680959" y="0"/>
            <a:ext cx="4023360" cy="4023360"/>
          </a:xfrm>
          <a:prstGeom prst="ellipse">
            <a:avLst/>
          </a:prstGeom>
          <a:noFill/>
          <a:ln w="15875">
            <a:solidFill>
              <a:srgbClr val="0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321040" y="640080"/>
            <a:ext cx="2743200" cy="2743200"/>
          </a:xfrm>
          <a:prstGeom prst="ellipse">
            <a:avLst/>
          </a:prstGeom>
          <a:noFill/>
          <a:ln w="15875">
            <a:solidFill>
              <a:srgbClr val="0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37776" y="1956816"/>
            <a:ext cx="109728" cy="109728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D9EE"/>
                </a:solidFill>
                <a:latin typeface="Calibri"/>
              </a:rPr>
              <a:t>ZAVRŠNI RAD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9875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Video-igra „FT-Space Chaser“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9601200" cy="555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B9C3D6"/>
                </a:solidFill>
                <a:latin typeface="Calibri"/>
              </a:rPr>
              <a:t>Implementacija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B9C3D6"/>
                </a:solidFill>
                <a:latin typeface="Calibri"/>
              </a:rPr>
              <a:t>dvodimenzionalne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B9C3D6"/>
                </a:solidFill>
                <a:latin typeface="Calibri"/>
              </a:rPr>
              <a:t>arkadne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B9C3D6"/>
                </a:solidFill>
                <a:latin typeface="Calibri"/>
              </a:rPr>
              <a:t>igre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 u Javi </a:t>
            </a:r>
            <a:r>
              <a:rPr sz="1500" b="0" i="0" dirty="0" err="1">
                <a:solidFill>
                  <a:srgbClr val="B9C3D6"/>
                </a:solidFill>
                <a:latin typeface="Calibri"/>
              </a:rPr>
              <a:t>i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B9C3D6"/>
                </a:solidFill>
                <a:latin typeface="Calibri"/>
              </a:rPr>
              <a:t>libGDX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-u,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B9C3D6"/>
                </a:solidFill>
                <a:latin typeface="Calibri"/>
              </a:rPr>
              <a:t>sa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B9C3D6"/>
                </a:solidFill>
                <a:latin typeface="Calibri"/>
              </a:rPr>
              <a:t>sistemom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B9C3D6"/>
                </a:solidFill>
                <a:latin typeface="Calibri"/>
              </a:rPr>
              <a:t>kolizije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B9C3D6"/>
                </a:solidFill>
                <a:latin typeface="Calibri"/>
              </a:rPr>
              <a:t>veštačkom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B9C3D6"/>
                </a:solidFill>
                <a:latin typeface="Calibri"/>
              </a:rPr>
              <a:t>inteligencijom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B9C3D6"/>
                </a:solidFill>
                <a:latin typeface="Calibri"/>
              </a:rPr>
              <a:t>i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B9C3D6"/>
                </a:solidFill>
                <a:latin typeface="Calibri"/>
              </a:rPr>
              <a:t>mrežnim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B9C3D6"/>
                </a:solidFill>
                <a:latin typeface="Calibri"/>
              </a:rPr>
              <a:t>višeigračkim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B9C3D6"/>
                </a:solidFill>
                <a:latin typeface="Calibri"/>
              </a:rPr>
              <a:t>režimom</a:t>
            </a:r>
            <a:r>
              <a:rPr sz="1500" b="0" i="0" dirty="0">
                <a:solidFill>
                  <a:srgbClr val="B9C3D6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92040"/>
            <a:ext cx="4206240" cy="12801"/>
          </a:xfrm>
          <a:prstGeom prst="rect">
            <a:avLst/>
          </a:prstGeom>
          <a:solidFill>
            <a:srgbClr val="0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5029200" cy="57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 i="0" dirty="0">
                <a:solidFill>
                  <a:srgbClr val="FFFFFF"/>
                </a:solidFill>
                <a:latin typeface="Calibri"/>
              </a:rPr>
              <a:t>Filip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Todorović</a:t>
            </a:r>
            <a:endParaRPr sz="145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sr-Latn-RS" sz="1450" b="0" i="0" dirty="0">
                <a:solidFill>
                  <a:srgbClr val="FFFFFF"/>
                </a:solidFill>
                <a:latin typeface="Calibri"/>
              </a:rPr>
              <a:t>NRT - 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66/22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7492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 i="0" dirty="0">
                <a:solidFill>
                  <a:srgbClr val="FFFFFF"/>
                </a:solidFill>
                <a:latin typeface="Calibri"/>
              </a:rPr>
              <a:t>Mentor: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dr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Perica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Štrbac</a:t>
            </a:r>
            <a:endParaRPr sz="145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FFFFFF"/>
                </a:solidFill>
                <a:latin typeface="Calibri"/>
              </a:rPr>
              <a:t>Akademija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tehničko-umetničkih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strukovnih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studija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Beograd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FFFFFF"/>
                </a:solidFill>
                <a:latin typeface="Calibri"/>
              </a:rPr>
              <a:t>Visoka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škola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elektrotehnike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i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računarstva</a:t>
            </a:r>
            <a:endParaRPr sz="145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26C7E"/>
                </a:solidFill>
                <a:latin typeface="Calibri"/>
              </a:rPr>
              <a:t>Beograd,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8C9E"/>
                </a:solidFill>
                <a:latin typeface="Calibri"/>
              </a:rPr>
              <a:t>POGLAVLJE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B142A"/>
                </a:solidFill>
                <a:latin typeface="Cambria"/>
              </a:rPr>
              <a:t>Cilj projekta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FT-Space Chaser — Filip Todorović, 66/22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612648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600" dirty="0" err="1">
                <a:solidFill>
                  <a:srgbClr val="0B142A"/>
                </a:solidFill>
                <a:latin typeface="Calibri"/>
              </a:rPr>
              <a:t>Razvoj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lang="sr-Latn-RS" sz="1600" dirty="0">
                <a:solidFill>
                  <a:srgbClr val="0B142A"/>
                </a:solidFill>
                <a:latin typeface="Calibri"/>
              </a:rPr>
              <a:t>video-igre FT-</a:t>
            </a:r>
            <a:r>
              <a:rPr lang="sr-Latn-RS" sz="1600" dirty="0" err="1">
                <a:solidFill>
                  <a:srgbClr val="0B142A"/>
                </a:solidFill>
                <a:latin typeface="Calibri"/>
              </a:rPr>
              <a:t>Space</a:t>
            </a:r>
            <a:r>
              <a:rPr lang="sr-Latn-RS"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lang="sr-Latn-RS" sz="1600" dirty="0" err="1">
                <a:solidFill>
                  <a:srgbClr val="0B142A"/>
                </a:solidFill>
                <a:latin typeface="Calibri"/>
              </a:rPr>
              <a:t>Chaser</a:t>
            </a:r>
            <a:r>
              <a:rPr lang="sr-Latn-RS"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sz="1600" dirty="0">
                <a:solidFill>
                  <a:srgbClr val="0B142A"/>
                </a:solidFill>
                <a:latin typeface="Calibri"/>
              </a:rPr>
              <a:t>u Javi,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uz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okvir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libGDX</a:t>
            </a:r>
            <a:endParaRPr sz="1600" dirty="0">
              <a:solidFill>
                <a:srgbClr val="0B142A"/>
              </a:solidFill>
              <a:latin typeface="Calibri"/>
            </a:endParaRP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600" dirty="0" err="1">
                <a:solidFill>
                  <a:srgbClr val="0B142A"/>
                </a:solidFill>
                <a:latin typeface="Calibri"/>
              </a:rPr>
              <a:t>Igrač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upravlja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svemirskim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brodom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i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brani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se od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talasa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neprijateljskih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raketa</a:t>
            </a:r>
            <a:endParaRPr sz="1600" dirty="0">
              <a:solidFill>
                <a:srgbClr val="0B142A"/>
              </a:solidFill>
              <a:latin typeface="Calibri"/>
            </a:endParaRP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lang="sr-Latn-RS" sz="1600" dirty="0">
                <a:solidFill>
                  <a:srgbClr val="0B142A"/>
                </a:solidFill>
                <a:latin typeface="Calibri"/>
              </a:rPr>
              <a:t>Implementacija -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Fizik</a:t>
            </a:r>
            <a:r>
              <a:rPr lang="sr-Latn-RS" sz="1600" dirty="0">
                <a:solidFill>
                  <a:srgbClr val="0B142A"/>
                </a:solidFill>
                <a:latin typeface="Calibri"/>
              </a:rPr>
              <a:t>e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kretanja</a:t>
            </a:r>
            <a:r>
              <a:rPr sz="1600" dirty="0">
                <a:solidFill>
                  <a:srgbClr val="0B142A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kolizije</a:t>
            </a:r>
            <a:r>
              <a:rPr sz="1600" dirty="0">
                <a:solidFill>
                  <a:srgbClr val="0B142A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veštačk</a:t>
            </a:r>
            <a:r>
              <a:rPr lang="sr-Latn-RS" sz="1600" dirty="0">
                <a:solidFill>
                  <a:srgbClr val="0B142A"/>
                </a:solidFill>
                <a:latin typeface="Calibri"/>
              </a:rPr>
              <a:t>e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inteligencija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i</a:t>
            </a:r>
            <a:r>
              <a:rPr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lang="sr-Latn-RS" sz="1600" dirty="0">
                <a:solidFill>
                  <a:srgbClr val="0B142A"/>
                </a:solidFill>
                <a:latin typeface="Calibri"/>
              </a:rPr>
              <a:t>jedno igračkog i </a:t>
            </a:r>
            <a:r>
              <a:rPr lang="sr-Latn-RS" sz="1600" dirty="0" err="1">
                <a:solidFill>
                  <a:srgbClr val="0B142A"/>
                </a:solidFill>
                <a:latin typeface="Calibri"/>
              </a:rPr>
              <a:t>višeigračkog</a:t>
            </a:r>
            <a:r>
              <a:rPr lang="sr-Latn-RS" sz="1600" dirty="0">
                <a:solidFill>
                  <a:srgbClr val="0B142A"/>
                </a:solidFill>
                <a:latin typeface="Calibri"/>
              </a:rPr>
              <a:t> režima preko </a:t>
            </a:r>
            <a:r>
              <a:rPr sz="1600" dirty="0" err="1">
                <a:solidFill>
                  <a:srgbClr val="0B142A"/>
                </a:solidFill>
                <a:latin typeface="Calibri"/>
              </a:rPr>
              <a:t>mrež</a:t>
            </a:r>
            <a:r>
              <a:rPr lang="sr-Latn-RS" sz="1600" dirty="0">
                <a:solidFill>
                  <a:srgbClr val="0B142A"/>
                </a:solidFill>
                <a:latin typeface="Calibri"/>
              </a:rPr>
              <a:t> </a:t>
            </a:r>
            <a:r>
              <a:rPr lang="pl-PL" sz="1600" dirty="0">
                <a:solidFill>
                  <a:srgbClr val="0B142A"/>
                </a:solidFill>
                <a:latin typeface="Calibri"/>
              </a:rPr>
              <a:t>(LAN)</a:t>
            </a:r>
          </a:p>
        </p:txBody>
      </p:sp>
      <p:sp>
        <p:nvSpPr>
          <p:cNvPr id="7" name="Oval 6"/>
          <p:cNvSpPr/>
          <p:nvPr/>
        </p:nvSpPr>
        <p:spPr>
          <a:xfrm>
            <a:off x="7978140" y="2263140"/>
            <a:ext cx="685800" cy="685800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78140" y="22631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A0E1A"/>
                </a:solidFill>
                <a:latin typeface="Cambria"/>
              </a:rPr>
              <a:t>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2860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142A"/>
                </a:solidFill>
                <a:latin typeface="Calibri"/>
              </a:rPr>
              <a:t>Java + libGDX</a:t>
            </a:r>
          </a:p>
        </p:txBody>
      </p:sp>
      <p:sp>
        <p:nvSpPr>
          <p:cNvPr id="10" name="Oval 9"/>
          <p:cNvSpPr/>
          <p:nvPr/>
        </p:nvSpPr>
        <p:spPr>
          <a:xfrm>
            <a:off x="7978140" y="3314700"/>
            <a:ext cx="685800" cy="685800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8140" y="33147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A0E1A"/>
                </a:solidFill>
                <a:latin typeface="Cambria"/>
              </a:rPr>
              <a:t>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553725"/>
            <a:ext cx="27432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sr-Latn-RS" sz="1350" b="1" dirty="0">
                <a:solidFill>
                  <a:srgbClr val="0B142A"/>
                </a:solidFill>
                <a:latin typeface="Calibri"/>
              </a:rPr>
              <a:t>Kolizije</a:t>
            </a:r>
            <a:r>
              <a:rPr sz="1350" b="1" i="0" dirty="0">
                <a:solidFill>
                  <a:srgbClr val="0B142A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0B142A"/>
                </a:solidFill>
                <a:latin typeface="Calibri"/>
              </a:rPr>
              <a:t>i</a:t>
            </a:r>
            <a:r>
              <a:rPr sz="1350" b="1" i="0" dirty="0">
                <a:solidFill>
                  <a:srgbClr val="0B142A"/>
                </a:solidFill>
                <a:latin typeface="Calibri"/>
              </a:rPr>
              <a:t> AI</a:t>
            </a:r>
          </a:p>
        </p:txBody>
      </p:sp>
      <p:sp>
        <p:nvSpPr>
          <p:cNvPr id="13" name="Oval 12"/>
          <p:cNvSpPr/>
          <p:nvPr/>
        </p:nvSpPr>
        <p:spPr>
          <a:xfrm>
            <a:off x="7978140" y="4366259"/>
            <a:ext cx="685800" cy="685800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78140" y="4366259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A0E1A"/>
                </a:solidFill>
                <a:latin typeface="Cambria"/>
              </a:rPr>
              <a:t>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605285"/>
            <a:ext cx="27432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 dirty="0" err="1">
                <a:solidFill>
                  <a:srgbClr val="0B142A"/>
                </a:solidFill>
                <a:latin typeface="Calibri"/>
              </a:rPr>
              <a:t>Mrežni</a:t>
            </a:r>
            <a:r>
              <a:rPr sz="1350" b="1" i="0" dirty="0">
                <a:solidFill>
                  <a:srgbClr val="0B142A"/>
                </a:solidFill>
                <a:latin typeface="Calibri"/>
              </a:rPr>
              <a:t> </a:t>
            </a:r>
            <a:r>
              <a:rPr lang="sr-Latn-RS" sz="1350" b="1" i="0" dirty="0" err="1">
                <a:solidFill>
                  <a:srgbClr val="0B142A"/>
                </a:solidFill>
                <a:latin typeface="Calibri"/>
              </a:rPr>
              <a:t>višeigrački</a:t>
            </a:r>
            <a:r>
              <a:rPr lang="sr-Latn-RS" sz="1350" b="1" i="0" dirty="0">
                <a:solidFill>
                  <a:srgbClr val="0B142A"/>
                </a:solidFill>
                <a:latin typeface="Calibri"/>
              </a:rPr>
              <a:t> režim</a:t>
            </a:r>
            <a:endParaRPr sz="1350" b="1" i="0" dirty="0">
              <a:solidFill>
                <a:srgbClr val="0B14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8C9E"/>
                </a:solidFill>
                <a:latin typeface="Calibri"/>
              </a:rPr>
              <a:t>POGLAVLJE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B142A"/>
                </a:solidFill>
                <a:latin typeface="Cambria"/>
              </a:rPr>
              <a:t>Korišćene tehnologije — pregled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FT-Space Chaser — Filip Todorović, 66/22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103120" y="2423160"/>
            <a:ext cx="822960" cy="822960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242316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A0E1A"/>
                </a:solidFill>
                <a:latin typeface="Cambria"/>
              </a:rPr>
              <a:t>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B142A"/>
                </a:solidFill>
                <a:latin typeface="Cambria"/>
              </a:rPr>
              <a:t>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8620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26C7E"/>
                </a:solidFill>
                <a:latin typeface="Calibri"/>
              </a:rPr>
              <a:t>Programski jezik, OOP, generici, izuzeci, višenitno programiranje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15000" y="2423160"/>
            <a:ext cx="822960" cy="822960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0" y="242316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A0E1A"/>
                </a:solidFill>
                <a:latin typeface="Cambria"/>
              </a:rPr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290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B142A"/>
                </a:solidFill>
                <a:latin typeface="Cambria"/>
              </a:rPr>
              <a:t>libGDX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88620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26C7E"/>
                </a:solidFill>
                <a:latin typeface="Calibri"/>
              </a:rPr>
              <a:t>Grafika, ShapeRenderer UI, upravljanje aplikacionim ciklusom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326880" y="2423160"/>
            <a:ext cx="822960" cy="822960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242316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A0E1A"/>
                </a:solidFill>
                <a:latin typeface="Cambria"/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290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B142A"/>
                </a:solidFill>
                <a:latin typeface="Cambria"/>
              </a:rPr>
              <a:t>Gradle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8620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26C7E"/>
                </a:solidFill>
                <a:latin typeface="Calibri"/>
              </a:rPr>
              <a:t>Višemodularna izgradnja (core + lwjgl3), upravljanje zavisnostima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8C9E"/>
                </a:solidFill>
                <a:latin typeface="Calibri"/>
              </a:rPr>
              <a:t>POGLAVLJE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dirty="0">
                <a:solidFill>
                  <a:srgbClr val="0B142A"/>
                </a:solidFill>
                <a:latin typeface="Cambria"/>
              </a:rPr>
              <a:t>Java </a:t>
            </a:r>
            <a:r>
              <a:rPr lang="sr-Latn-RS" sz="3000" b="1" dirty="0">
                <a:solidFill>
                  <a:srgbClr val="0B142A"/>
                </a:solidFill>
                <a:latin typeface="Cambria"/>
              </a:rPr>
              <a:t>-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objektno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orijentisano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programiranje</a:t>
            </a:r>
            <a:endParaRPr sz="3000" b="1" i="0" dirty="0">
              <a:solidFill>
                <a:srgbClr val="0B142A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FT-Space Chaser — Filip Todorović, 66/22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600">
                <a:solidFill>
                  <a:srgbClr val="0B142A"/>
                </a:solidFill>
                <a:latin typeface="Calibri"/>
              </a:rPr>
              <a:t>Nasleđivanje i polimorfizam: Entity → Player / Enemy / Bullet / Coin / Wall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600">
                <a:solidFill>
                  <a:srgbClr val="0B142A"/>
                </a:solidFill>
                <a:latin typeface="Calibri"/>
              </a:rPr>
              <a:t>Interfejsi: EnemyState (enter / update / exit) omogućava zamenljiva AI stanja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600">
                <a:solidFill>
                  <a:srgbClr val="0B142A"/>
                </a:solidFill>
                <a:latin typeface="Calibri"/>
              </a:rPr>
              <a:t>Višenitno programiranje: server, klijent i render rade na odvojenim nitima (Thread)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600">
                <a:solidFill>
                  <a:srgbClr val="0B142A"/>
                </a:solidFill>
                <a:latin typeface="Calibri"/>
              </a:rPr>
              <a:t>Serijalizacija objekata (Serializable) za slanje mrežnih poruka bez eksternih biblioteka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600">
                <a:solidFill>
                  <a:srgbClr val="0B142A"/>
                </a:solidFill>
                <a:latin typeface="Calibri"/>
              </a:rPr>
              <a:t>Generici i kolekcije: Map&lt;Integer, Player&gt;, libGDX-ov Array&lt;T&gt;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8C9E"/>
                </a:solidFill>
                <a:latin typeface="Calibri"/>
              </a:rPr>
              <a:t>POGLAVLJE 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dirty="0" err="1">
                <a:solidFill>
                  <a:srgbClr val="0B142A"/>
                </a:solidFill>
                <a:latin typeface="Cambria"/>
              </a:rPr>
              <a:t>libGDX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lang="sr-Latn-RS" sz="3000" b="1" i="0" dirty="0">
                <a:solidFill>
                  <a:srgbClr val="0B142A"/>
                </a:solidFill>
                <a:latin typeface="Cambria"/>
              </a:rPr>
              <a:t>-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grafika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i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korisnički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interfejs</a:t>
            </a:r>
            <a:endParaRPr sz="3000" b="1" i="0" dirty="0">
              <a:solidFill>
                <a:srgbClr val="0B142A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FT-Space Chaser — Filip Todorović, 66/22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6035040" cy="14311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550" dirty="0" err="1">
                <a:solidFill>
                  <a:srgbClr val="0B142A"/>
                </a:solidFill>
                <a:latin typeface="Calibri"/>
              </a:rPr>
              <a:t>SpriteBatch</a:t>
            </a:r>
            <a:r>
              <a:rPr sz="1550" dirty="0">
                <a:solidFill>
                  <a:srgbClr val="0B142A"/>
                </a:solidFill>
                <a:latin typeface="Calibri"/>
              </a:rPr>
              <a:t>, Texture, Animation&lt;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TextureRegion</a:t>
            </a:r>
            <a:r>
              <a:rPr sz="1550" dirty="0">
                <a:solidFill>
                  <a:srgbClr val="0B142A"/>
                </a:solidFill>
                <a:latin typeface="Calibri"/>
              </a:rPr>
              <a:t>&gt; za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sličice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i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animacije</a:t>
            </a:r>
            <a:endParaRPr sz="1550" dirty="0">
              <a:solidFill>
                <a:srgbClr val="0B142A"/>
              </a:solidFill>
              <a:latin typeface="Calibri"/>
            </a:endParaRP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550" dirty="0" err="1">
                <a:solidFill>
                  <a:srgbClr val="0B142A"/>
                </a:solidFill>
                <a:latin typeface="Calibri"/>
              </a:rPr>
              <a:t>OrthographicCamera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+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FitViewport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čuvaju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razmeru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arene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na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svim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rezolucijama</a:t>
            </a:r>
            <a:endParaRPr sz="1550" dirty="0">
              <a:solidFill>
                <a:srgbClr val="0B142A"/>
              </a:solidFill>
              <a:latin typeface="Calibri"/>
            </a:endParaRP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550" dirty="0" err="1">
                <a:solidFill>
                  <a:srgbClr val="0B142A"/>
                </a:solidFill>
                <a:latin typeface="Calibri"/>
              </a:rPr>
              <a:t>Ceo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interfejs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(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meniji</a:t>
            </a:r>
            <a:r>
              <a:rPr sz="1550" dirty="0">
                <a:solidFill>
                  <a:srgbClr val="0B142A"/>
                </a:solidFill>
                <a:latin typeface="Calibri"/>
              </a:rPr>
              <a:t>, HUD)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ručno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je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iscrtan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preko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ShapeRenderer</a:t>
            </a:r>
            <a:r>
              <a:rPr sz="1550" dirty="0">
                <a:solidFill>
                  <a:srgbClr val="0B142A"/>
                </a:solidFill>
                <a:latin typeface="Calibri"/>
              </a:rPr>
              <a:t>-a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lang="sr-Latn-RS" sz="1550" dirty="0">
                <a:solidFill>
                  <a:srgbClr val="0B142A"/>
                </a:solidFill>
                <a:latin typeface="Calibri"/>
              </a:rPr>
              <a:t>G</a:t>
            </a:r>
            <a:r>
              <a:rPr sz="1550" dirty="0">
                <a:solidFill>
                  <a:srgbClr val="0B142A"/>
                </a:solidFill>
                <a:latin typeface="Calibri"/>
              </a:rPr>
              <a:t>dx-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freetype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dinamički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generiše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font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Audiowide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u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proizvoljnim</a:t>
            </a:r>
            <a:r>
              <a:rPr sz="1550" dirty="0">
                <a:solidFill>
                  <a:srgbClr val="0B142A"/>
                </a:solidFill>
                <a:latin typeface="Calibri"/>
              </a:rPr>
              <a:t> </a:t>
            </a:r>
            <a:r>
              <a:rPr sz="1550" dirty="0" err="1">
                <a:solidFill>
                  <a:srgbClr val="0B142A"/>
                </a:solidFill>
                <a:latin typeface="Calibri"/>
              </a:rPr>
              <a:t>veličinama</a:t>
            </a:r>
            <a:endParaRPr sz="1550" dirty="0">
              <a:solidFill>
                <a:srgbClr val="0B142A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23760" y="2148840"/>
            <a:ext cx="411480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52360" y="23774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8C9E"/>
                </a:solidFill>
                <a:latin typeface="Calibri"/>
              </a:rPr>
              <a:t>Životni ciklus ekrana</a:t>
            </a:r>
          </a:p>
        </p:txBody>
      </p:sp>
      <p:sp>
        <p:nvSpPr>
          <p:cNvPr id="9" name="Oval 8"/>
          <p:cNvSpPr/>
          <p:nvPr/>
        </p:nvSpPr>
        <p:spPr>
          <a:xfrm>
            <a:off x="7452360" y="2880360"/>
            <a:ext cx="128016" cy="128016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275234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0B142A"/>
                </a:solidFill>
                <a:latin typeface="Courier New"/>
              </a:rPr>
              <a:t>show()</a:t>
            </a:r>
          </a:p>
        </p:txBody>
      </p:sp>
      <p:sp>
        <p:nvSpPr>
          <p:cNvPr id="11" name="Oval 10"/>
          <p:cNvSpPr/>
          <p:nvPr/>
        </p:nvSpPr>
        <p:spPr>
          <a:xfrm>
            <a:off x="7452360" y="3566160"/>
            <a:ext cx="128016" cy="128016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343814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0B142A"/>
                </a:solidFill>
                <a:latin typeface="Courier New"/>
              </a:rPr>
              <a:t>render(delta)</a:t>
            </a:r>
          </a:p>
        </p:txBody>
      </p:sp>
      <p:sp>
        <p:nvSpPr>
          <p:cNvPr id="13" name="Oval 12"/>
          <p:cNvSpPr/>
          <p:nvPr/>
        </p:nvSpPr>
        <p:spPr>
          <a:xfrm>
            <a:off x="7452360" y="4251960"/>
            <a:ext cx="128016" cy="128016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79" y="412394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0B142A"/>
                </a:solidFill>
                <a:latin typeface="Courier New"/>
              </a:rPr>
              <a:t>resize()</a:t>
            </a:r>
          </a:p>
        </p:txBody>
      </p:sp>
      <p:sp>
        <p:nvSpPr>
          <p:cNvPr id="15" name="Oval 14"/>
          <p:cNvSpPr/>
          <p:nvPr/>
        </p:nvSpPr>
        <p:spPr>
          <a:xfrm>
            <a:off x="7452360" y="4937760"/>
            <a:ext cx="128016" cy="128016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480974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0B142A"/>
                </a:solidFill>
                <a:latin typeface="Courier New"/>
              </a:rPr>
              <a:t>hide() / dispose()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8C9E"/>
                </a:solidFill>
                <a:latin typeface="Calibri"/>
              </a:rPr>
              <a:t>POGLAVLJE 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dirty="0" err="1">
                <a:solidFill>
                  <a:srgbClr val="0B142A"/>
                </a:solidFill>
                <a:latin typeface="Cambria"/>
              </a:rPr>
              <a:t>Mrežno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programiranje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lang="sr-Latn-RS" sz="3000" b="1" i="0" dirty="0">
                <a:solidFill>
                  <a:srgbClr val="0B142A"/>
                </a:solidFill>
                <a:latin typeface="Cambria"/>
              </a:rPr>
              <a:t>-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TCP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klijent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-server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FT-Space Chaser — Filip Todorović, 66/22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1206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450">
                <a:solidFill>
                  <a:srgbClr val="0B142A"/>
                </a:solidFill>
                <a:latin typeface="Calibri"/>
              </a:rPr>
              <a:t>Isključivo standardne Java klase: java.net i java.io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450">
                <a:solidFill>
                  <a:srgbClr val="0B142A"/>
                </a:solidFill>
                <a:latin typeface="Calibri"/>
              </a:rPr>
              <a:t>Java serijalizacija (ObjectOutputStream / ObjectInputStream)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450">
                <a:solidFill>
                  <a:srgbClr val="0B142A"/>
                </a:solidFill>
                <a:latin typeface="Calibri"/>
              </a:rPr>
              <a:t>Server: 60 osvežavanja u sekundi, autoritativna simulacija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450">
                <a:solidFill>
                  <a:srgbClr val="0B142A"/>
                </a:solidFill>
                <a:latin typeface="Calibri"/>
              </a:rPr>
              <a:t>out.reset() sprečava slanje „ustajalih“ keširanih podataka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MultiplayerClient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Socket + ObjectStream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470916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48920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ClientHandler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52578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1 nit po igraču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70916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19" y="48920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GameServer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52578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GameWorld.update()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6160" y="5212080"/>
            <a:ext cx="1051560" cy="0"/>
          </a:xfrm>
          <a:prstGeom prst="line">
            <a:avLst/>
          </a:prstGeom>
          <a:ln w="28575">
            <a:solidFill>
              <a:srgbClr val="008C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60920" y="5212080"/>
            <a:ext cx="1051560" cy="0"/>
          </a:xfrm>
          <a:prstGeom prst="line">
            <a:avLst/>
          </a:prstGeom>
          <a:ln w="28575">
            <a:solidFill>
              <a:srgbClr val="008C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360920" y="5486400"/>
            <a:ext cx="1051560" cy="0"/>
          </a:xfrm>
          <a:prstGeom prst="line">
            <a:avLst/>
          </a:prstGeom>
          <a:ln w="28575">
            <a:solidFill>
              <a:srgbClr val="008C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566160" y="5486400"/>
            <a:ext cx="1051560" cy="0"/>
          </a:xfrm>
          <a:prstGeom prst="line">
            <a:avLst/>
          </a:prstGeom>
          <a:ln w="28575">
            <a:solidFill>
              <a:srgbClr val="008C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66160" y="525780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26C7E"/>
                </a:solidFill>
                <a:latin typeface="Calibri"/>
              </a:rPr>
              <a:t>PlayerInput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25780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26C7E"/>
                </a:solidFill>
                <a:latin typeface="Calibri"/>
              </a:rPr>
              <a:t>Snapshot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8C9E"/>
                </a:solidFill>
                <a:latin typeface="Calibri"/>
              </a:rPr>
              <a:t>POGLAVLJE 2.4.2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dirty="0">
                <a:solidFill>
                  <a:srgbClr val="0B142A"/>
                </a:solidFill>
                <a:latin typeface="Cambria"/>
              </a:rPr>
              <a:t>UDP </a:t>
            </a:r>
            <a:r>
              <a:rPr lang="sr-Latn-RS" sz="3000" b="1" i="0" dirty="0">
                <a:solidFill>
                  <a:srgbClr val="0B142A"/>
                </a:solidFill>
                <a:latin typeface="Cambria"/>
              </a:rPr>
              <a:t>-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automatsko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otkrivanje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partija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na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LAN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mreži</a:t>
            </a:r>
            <a:endParaRPr sz="3000" b="1" i="0" dirty="0">
              <a:solidFill>
                <a:srgbClr val="0B142A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FT-Space Chaser — Filip Todorović, 66/22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600">
                <a:solidFill>
                  <a:srgbClr val="0B142A"/>
                </a:solidFill>
                <a:latin typeface="Calibri"/>
              </a:rPr>
              <a:t>LanHostAdvertiser: DatagramSocket na portu 54555, odgovara na „SPACECHASER_DISCOVER“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600">
                <a:solidFill>
                  <a:srgbClr val="0B142A"/>
                </a:solidFill>
                <a:latin typeface="Calibri"/>
              </a:rPr>
              <a:t>Odgovor u obliku „SPACECHASER_HOST|ime|režim|port“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600">
                <a:solidFill>
                  <a:srgbClr val="0B142A"/>
                </a:solidFill>
                <a:latin typeface="Calibri"/>
              </a:rPr>
              <a:t>LanGameDiscovery (klijent): emituje upit ka celoj podmreži i prikuplja odgovore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600">
                <a:solidFill>
                  <a:srgbClr val="0B142A"/>
                </a:solidFill>
                <a:latin typeface="Calibri"/>
              </a:rPr>
              <a:t>Rezultat: korisnik bira partiju sa liste, bez ručnog unosa IP adrese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8C9E"/>
                </a:solidFill>
                <a:latin typeface="Calibri"/>
              </a:rPr>
              <a:t>POGLAVLJE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dirty="0" err="1">
                <a:solidFill>
                  <a:srgbClr val="0B142A"/>
                </a:solidFill>
                <a:latin typeface="Cambria"/>
              </a:rPr>
              <a:t>Struktura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aplikacije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lang="sr-Latn-RS" sz="3000" b="1" i="0" dirty="0">
                <a:solidFill>
                  <a:srgbClr val="0B142A"/>
                </a:solidFill>
                <a:latin typeface="Cambria"/>
              </a:rPr>
              <a:t>-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paketi</a:t>
            </a:r>
            <a:endParaRPr sz="3000" b="1" i="0" dirty="0">
              <a:solidFill>
                <a:srgbClr val="0B142A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FT-Space Chaser — Filip Todorović, 66/22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A"/>
                </a:solidFill>
                <a:latin typeface="Calibri"/>
              </a:rPr>
              <a:t>animation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14884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2148840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A"/>
                </a:solidFill>
                <a:latin typeface="Calibri"/>
              </a:rPr>
              <a:t>collision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14884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0" y="2148840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A"/>
                </a:solidFill>
                <a:latin typeface="Calibri"/>
              </a:rPr>
              <a:t>component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14884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148840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A"/>
                </a:solidFill>
                <a:latin typeface="Calibri"/>
              </a:rPr>
              <a:t>enemy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148840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0" y="2148840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A"/>
                </a:solidFill>
                <a:latin typeface="Calibri"/>
              </a:rPr>
              <a:t>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73552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273552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A"/>
                </a:solidFill>
                <a:latin typeface="Calibri"/>
              </a:rPr>
              <a:t>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273552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17520" y="3273552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A"/>
                </a:solidFill>
                <a:latin typeface="Calibri"/>
              </a:rPr>
              <a:t>network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3273552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3273552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A"/>
                </a:solidFill>
                <a:latin typeface="Calibri"/>
              </a:rPr>
              <a:t>renderer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3273552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0" y="3273552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A"/>
                </a:solidFill>
                <a:latin typeface="Calibri"/>
              </a:rPr>
              <a:t>screen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3273552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0" y="3273552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A"/>
                </a:solidFill>
                <a:latin typeface="Calibri"/>
              </a:rPr>
              <a:t>server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398264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398264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A"/>
                </a:solidFill>
                <a:latin typeface="Calibri"/>
              </a:rPr>
              <a:t>settings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4398264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17520" y="4398264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A"/>
                </a:solidFill>
                <a:latin typeface="Calibri"/>
              </a:rPr>
              <a:t>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0" y="4398264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5212080" y="4757541"/>
            <a:ext cx="20574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400" b="1" i="0" dirty="0">
                <a:solidFill>
                  <a:srgbClr val="0B142A"/>
                </a:solidFill>
                <a:latin typeface="Calibri"/>
              </a:rPr>
              <a:t>util</a:t>
            </a:r>
            <a:endParaRPr sz="1400" b="1" i="0" dirty="0">
              <a:solidFill>
                <a:srgbClr val="0B142A"/>
              </a:solidFill>
              <a:latin typeface="Calibri"/>
            </a:endParaRPr>
          </a:p>
        </p:txBody>
      </p:sp>
      <p:sp>
        <p:nvSpPr>
          <p:cNvPr id="32" name="Rounded Rectangle 29">
            <a:extLst>
              <a:ext uri="{FF2B5EF4-FFF2-40B4-BE49-F238E27FC236}">
                <a16:creationId xmlns:a16="http://schemas.microsoft.com/office/drawing/2014/main" id="{8017E644-85A3-C09C-9FF7-68EADAE17FF2}"/>
              </a:ext>
            </a:extLst>
          </p:cNvPr>
          <p:cNvSpPr/>
          <p:nvPr/>
        </p:nvSpPr>
        <p:spPr>
          <a:xfrm>
            <a:off x="7406640" y="4385203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9458A7-3EDC-62E4-115B-90A7B45BD96F}"/>
              </a:ext>
            </a:extLst>
          </p:cNvPr>
          <p:cNvSpPr txBox="1"/>
          <p:nvPr/>
        </p:nvSpPr>
        <p:spPr>
          <a:xfrm>
            <a:off x="7406640" y="4393692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 dirty="0">
                <a:solidFill>
                  <a:srgbClr val="0B142A"/>
                </a:solidFill>
                <a:latin typeface="Calibri"/>
              </a:rPr>
              <a:t>world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8C9E"/>
                </a:solidFill>
                <a:latin typeface="Calibri"/>
              </a:rPr>
              <a:t>POGLAVLJE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B142A"/>
                </a:solidFill>
                <a:latin typeface="Cambria"/>
              </a:rPr>
              <a:t>Struktura podataka — hijerarhija entiteta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FT-Space Chaser — Filip Todorović, 66/22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214884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00600" y="22174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5831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x, y, hitbox, health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0927" y="379476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2367" y="40005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367" y="43662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unos, gorivo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981047" y="2926080"/>
            <a:ext cx="4099713" cy="868680"/>
          </a:xfrm>
          <a:prstGeom prst="line">
            <a:avLst/>
          </a:prstGeom>
          <a:ln w="19050">
            <a:solidFill>
              <a:srgbClr val="008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78327" y="379476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69767" y="40005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Enemy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9767" y="43662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StateMachine, A*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038447" y="2926080"/>
            <a:ext cx="2042313" cy="868680"/>
          </a:xfrm>
          <a:prstGeom prst="line">
            <a:avLst/>
          </a:prstGeom>
          <a:ln w="19050">
            <a:solidFill>
              <a:srgbClr val="008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35727" y="379476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7167" y="40005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Bullet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7167" y="43662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pravac, šteta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926080"/>
            <a:ext cx="15087" cy="868680"/>
          </a:xfrm>
          <a:prstGeom prst="line">
            <a:avLst/>
          </a:prstGeom>
          <a:ln w="19050">
            <a:solidFill>
              <a:srgbClr val="008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93127" y="379476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84567" y="40005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Coin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4567" y="43662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nagrada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2926080"/>
            <a:ext cx="2072487" cy="868680"/>
          </a:xfrm>
          <a:prstGeom prst="line">
            <a:avLst/>
          </a:prstGeom>
          <a:ln w="19050">
            <a:solidFill>
              <a:srgbClr val="008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50527" y="379476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41967" y="40005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Wall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1967" y="43662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prepreka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0760" y="2926080"/>
            <a:ext cx="4129887" cy="868680"/>
          </a:xfrm>
          <a:prstGeom prst="line">
            <a:avLst/>
          </a:prstGeom>
          <a:ln w="19050">
            <a:solidFill>
              <a:srgbClr val="008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521208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1">
                <a:solidFill>
                  <a:srgbClr val="626C7E"/>
                </a:solidFill>
                <a:latin typeface="Calibri"/>
              </a:rPr>
              <a:t>Zajednička polja (pozicija, rotacija, hitbox, zdravlje) čuvaju se u baznoj klasi; svaki podtip dodaje sopstveno ponašanje.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8C9E"/>
                </a:solidFill>
                <a:latin typeface="Calibri"/>
              </a:rPr>
              <a:t>POGLAVLJE 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dirty="0" err="1">
                <a:solidFill>
                  <a:srgbClr val="0B142A"/>
                </a:solidFill>
                <a:latin typeface="Cambria"/>
              </a:rPr>
              <a:t>Igra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logika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lang="sr-Latn-RS" sz="3000" b="1" i="0" dirty="0">
                <a:solidFill>
                  <a:srgbClr val="0B142A"/>
                </a:solidFill>
                <a:latin typeface="Cambria"/>
              </a:rPr>
              <a:t>-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sistem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talasa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neprijatelja</a:t>
            </a:r>
            <a:endParaRPr sz="3000" b="1" i="0" dirty="0">
              <a:solidFill>
                <a:srgbClr val="0B142A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FT-Space Chaser — Filip Todorović, 66/22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26C7E"/>
                </a:solidFill>
                <a:latin typeface="Calibri"/>
              </a:rPr>
              <a:t>Talas se pokreće tek kada je arena očišćena; svaki naredni talas je teži: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23774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2377440" cy="11905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08C9E"/>
                </a:solidFill>
                <a:latin typeface="Cambria"/>
              </a:rPr>
              <a:t>3 →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53788"/>
            <a:ext cx="2377440" cy="729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26C7E"/>
                </a:solidFill>
                <a:latin typeface="Calibri"/>
              </a:rPr>
              <a:t>neprijatelja po talasu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26C7E"/>
                </a:solidFill>
                <a:latin typeface="Calibri"/>
              </a:rPr>
              <a:t>(ENEMY_WAVE_SIZE / MAX)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834640"/>
            <a:ext cx="23774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3063240"/>
            <a:ext cx="2377440" cy="11905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08C9E"/>
                </a:solidFill>
                <a:latin typeface="Cambria"/>
              </a:rPr>
              <a:t>+33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253788"/>
            <a:ext cx="2377440" cy="729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26C7E"/>
                </a:solidFill>
                <a:latin typeface="Calibri"/>
              </a:rPr>
              <a:t>zdravlja po talasu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26C7E"/>
                </a:solidFill>
                <a:latin typeface="Calibri"/>
              </a:rPr>
              <a:t>(do 6 talasa eskalacije)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834640"/>
            <a:ext cx="23774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3063240"/>
            <a:ext cx="2377440" cy="11905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08C9E"/>
                </a:solidFill>
                <a:latin typeface="Cambria"/>
              </a:rPr>
              <a:t>×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253788"/>
            <a:ext cx="2377440" cy="729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26C7E"/>
                </a:solidFill>
                <a:latin typeface="Calibri"/>
              </a:rPr>
              <a:t>poena po ubistvu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26C7E"/>
                </a:solidFill>
                <a:latin typeface="Calibri"/>
              </a:rPr>
              <a:t>(SCORE_PER_KILL_BASE)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834640"/>
            <a:ext cx="23774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0" y="3063240"/>
            <a:ext cx="2377440" cy="11905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08C9E"/>
                </a:solidFill>
                <a:latin typeface="Cambria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253788"/>
            <a:ext cx="2377440" cy="729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26C7E"/>
                </a:solidFill>
                <a:latin typeface="Calibri"/>
              </a:rPr>
              <a:t>prag „raspomamljivanja“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26C7E"/>
                </a:solidFill>
                <a:latin typeface="Calibri"/>
              </a:rPr>
              <a:t>(ENRAGE_THRESHOLD)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8C9E"/>
                </a:solidFill>
                <a:latin typeface="Calibri"/>
              </a:rPr>
              <a:t>POGLAVLJE 3.4 / 2.5.3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B142A"/>
                </a:solidFill>
                <a:latin typeface="Cambria"/>
              </a:rPr>
              <a:t>Sistem detekcije i rešavanja kolizija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FT-Space Chaser — Filip Todorović, 66/22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0350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500">
                <a:solidFill>
                  <a:srgbClr val="0B142A"/>
                </a:solidFill>
                <a:latin typeface="Calibri"/>
              </a:rPr>
              <a:t>SAT algoritam (Intersector.overlapConvexPolygons) umesto proste AABB provere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500">
                <a:solidFill>
                  <a:srgbClr val="0B142A"/>
                </a:solidFill>
                <a:latin typeface="Calibri"/>
              </a:rPr>
              <a:t>Minimum Translation Vector (MTV) — pravac i dubina prodora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500">
                <a:solidFill>
                  <a:srgbClr val="0B142A"/>
                </a:solidFill>
                <a:latin typeface="Calibri"/>
              </a:rPr>
              <a:t>Igrač se izgura iz zida duž ispravnog pravca, brzina se koriguje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500">
                <a:solidFill>
                  <a:srgbClr val="0B142A"/>
                </a:solidFill>
                <a:latin typeface="Calibri"/>
              </a:rPr>
              <a:t>„Slab test“ sprečava da brzi meci „probiju“ tanke zidove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103120"/>
            <a:ext cx="41148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52360" y="23317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8C9E"/>
                </a:solidFill>
                <a:latin typeface="Calibri"/>
              </a:rPr>
              <a:t>Tok rešavanja sudara</a:t>
            </a:r>
          </a:p>
        </p:txBody>
      </p:sp>
      <p:sp>
        <p:nvSpPr>
          <p:cNvPr id="9" name="Oval 8"/>
          <p:cNvSpPr/>
          <p:nvPr/>
        </p:nvSpPr>
        <p:spPr>
          <a:xfrm>
            <a:off x="7498079" y="2852928"/>
            <a:ext cx="457200" cy="457200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79" y="28529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A0E1A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8803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B142A"/>
                </a:solidFill>
                <a:latin typeface="Calibri"/>
              </a:rPr>
              <a:t>Detekcija preklapanja</a:t>
            </a:r>
          </a:p>
        </p:txBody>
      </p:sp>
      <p:sp>
        <p:nvSpPr>
          <p:cNvPr id="12" name="Oval 11"/>
          <p:cNvSpPr/>
          <p:nvPr/>
        </p:nvSpPr>
        <p:spPr>
          <a:xfrm>
            <a:off x="7498079" y="3511296"/>
            <a:ext cx="457200" cy="457200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35112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A0E1A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5387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B142A"/>
                </a:solidFill>
                <a:latin typeface="Calibri"/>
              </a:rPr>
              <a:t>Računanje MTV vektora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4169663"/>
            <a:ext cx="457200" cy="457200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79" y="416966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A0E1A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19709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B142A"/>
                </a:solidFill>
                <a:latin typeface="Calibri"/>
              </a:rPr>
              <a:t>Izguravanje igrača</a:t>
            </a:r>
          </a:p>
        </p:txBody>
      </p:sp>
      <p:sp>
        <p:nvSpPr>
          <p:cNvPr id="18" name="Oval 17"/>
          <p:cNvSpPr/>
          <p:nvPr/>
        </p:nvSpPr>
        <p:spPr>
          <a:xfrm>
            <a:off x="7498079" y="4828031"/>
            <a:ext cx="457200" cy="457200"/>
          </a:xfrm>
          <a:prstGeom prst="ellipse">
            <a:avLst/>
          </a:prstGeom>
          <a:solidFill>
            <a:srgbClr val="0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48280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A0E1A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85546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B142A"/>
                </a:solidFill>
                <a:latin typeface="Calibri"/>
              </a:rPr>
              <a:t>Korekcija brzine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8C9E"/>
                </a:solidFill>
                <a:latin typeface="Calibri"/>
              </a:rPr>
              <a:t>POGLAVLJE 3.5 / 2.5.1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dirty="0" err="1">
                <a:solidFill>
                  <a:srgbClr val="0B142A"/>
                </a:solidFill>
                <a:latin typeface="Cambria"/>
              </a:rPr>
              <a:t>Veštačka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inteligencija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lang="sr-Latn-RS" sz="3000" b="1" i="0" dirty="0">
                <a:solidFill>
                  <a:srgbClr val="0B142A"/>
                </a:solidFill>
                <a:latin typeface="Cambria"/>
              </a:rPr>
              <a:t>-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konačni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automat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FT-Space Chaser — Filip Todorović, 66/22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Patrol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3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slučajna tačka,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povremeni odmor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3246120"/>
            <a:ext cx="914400" cy="0"/>
          </a:xfrm>
          <a:prstGeom prst="line">
            <a:avLst/>
          </a:prstGeom>
          <a:ln w="28575">
            <a:solidFill>
              <a:srgbClr val="008C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256032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7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Chase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3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A* / direktna linija,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goni igrača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3246120"/>
            <a:ext cx="914400" cy="0"/>
          </a:xfrm>
          <a:prstGeom prst="line">
            <a:avLst/>
          </a:prstGeom>
          <a:ln w="28575">
            <a:solidFill>
              <a:srgbClr val="008C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21040" y="256032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92607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9183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poslednja pozicija,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3 sekunde</a:t>
            </a: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 flipH="1">
            <a:off x="3703320" y="4343400"/>
            <a:ext cx="4572000" cy="0"/>
          </a:xfrm>
          <a:prstGeom prst="line">
            <a:avLst/>
          </a:prstGeom>
          <a:ln w="28575">
            <a:solidFill>
              <a:srgbClr val="008C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4160520"/>
            <a:ext cx="1033272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26C7E"/>
                </a:solidFill>
                <a:latin typeface="Calibri"/>
              </a:rPr>
              <a:t>vidi igrača (canSeePlayer) → nazad na Chase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103327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350">
                <a:solidFill>
                  <a:srgbClr val="0B142A"/>
                </a:solidFill>
                <a:latin typeface="Calibri"/>
              </a:rPr>
              <a:t>PathFinder: A* pretraga po mreži čvorova (GridNode), Menhetn heuristika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350">
                <a:solidFill>
                  <a:srgbClr val="0B142A"/>
                </a:solidFill>
                <a:latin typeface="Calibri"/>
              </a:rPr>
              <a:t>Separacija i izbegavanje zidova (steering) za prirodnije grupno ponašanje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8C9E"/>
                </a:solidFill>
                <a:latin typeface="Calibri"/>
              </a:rPr>
              <a:t>POGLAVLJE 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B142A"/>
                </a:solidFill>
                <a:latin typeface="Cambria"/>
              </a:rPr>
              <a:t>Multiplejer implementacija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FT-Space Chaser — Filip Todorović, 66/22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GameServer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autoritativna simulacija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60 Hz petlja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9456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46888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A"/>
                </a:solidFill>
                <a:latin typeface="Calibri"/>
              </a:rPr>
              <a:t>MultiplayerGameWorld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3464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prikazni sloj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26C7E"/>
                </a:solidFill>
                <a:latin typeface="Calibri"/>
              </a:rPr>
              <a:t>(klijent)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2788920"/>
            <a:ext cx="4297680" cy="0"/>
          </a:xfrm>
          <a:prstGeom prst="line">
            <a:avLst/>
          </a:prstGeom>
          <a:ln w="28575">
            <a:solidFill>
              <a:srgbClr val="008C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931920" y="24688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GameStateSnapshot (svakih 16 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1033272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450">
                <a:solidFill>
                  <a:srgbClr val="0B142A"/>
                </a:solidFill>
                <a:latin typeface="Calibri"/>
              </a:rPr>
              <a:t>SnapshotBuilder pakuje samo neophodne podatke (EntityState) — DTO obrazac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450">
                <a:solidFill>
                  <a:srgbClr val="0B142A"/>
                </a:solidFill>
                <a:latin typeface="Calibri"/>
              </a:rPr>
              <a:t>Klijent usklađuje entitete po ID-u (dodaj / ažuriraj / ukloni)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450">
                <a:solidFill>
                  <a:srgbClr val="0B142A"/>
                </a:solidFill>
                <a:latin typeface="Calibri"/>
              </a:rPr>
              <a:t>Eksponencijalna interpolacija pozicije sakriva kašnjenje mreže</a:t>
            </a:r>
          </a:p>
          <a:p>
            <a:pPr marL="182880" indent="-182880" algn="l">
              <a:buClr>
                <a:srgbClr val="008C9E"/>
              </a:buClr>
              <a:buFont typeface="Arial"/>
              <a:buChar char="▪"/>
            </a:pPr>
            <a:r>
              <a:rPr sz="1450">
                <a:solidFill>
                  <a:srgbClr val="0B142A"/>
                </a:solidFill>
                <a:latin typeface="Calibri"/>
              </a:rPr>
              <a:t>Lobi protokol: čekanje 2 igrača, odbrojavanje, glasanje za pauzu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8C9E"/>
                </a:solidFill>
                <a:latin typeface="Calibri"/>
              </a:rPr>
              <a:t>POGLAVLJE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dirty="0" err="1">
                <a:solidFill>
                  <a:srgbClr val="0B142A"/>
                </a:solidFill>
                <a:latin typeface="Cambria"/>
              </a:rPr>
              <a:t>Korisnički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interfejs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lang="sr-Latn-RS" sz="3000" b="1" i="0" dirty="0">
                <a:solidFill>
                  <a:srgbClr val="0B142A"/>
                </a:solidFill>
                <a:latin typeface="Cambria"/>
              </a:rPr>
              <a:t>-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ekrani</a:t>
            </a:r>
            <a:r>
              <a:rPr sz="3000" b="1" i="0" dirty="0">
                <a:solidFill>
                  <a:srgbClr val="0B142A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0B142A"/>
                </a:solidFill>
                <a:latin typeface="Cambria"/>
              </a:rPr>
              <a:t>aplikacije</a:t>
            </a:r>
            <a:endParaRPr sz="3000" b="1" i="0" dirty="0">
              <a:solidFill>
                <a:srgbClr val="0B142A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626C7E"/>
                </a:solidFill>
                <a:latin typeface="Calibri"/>
              </a:rPr>
              <a:t>Ceo interfejs ručno je iscrtan preko ShapeRenderer-a, u tamnoj cijan/crnoj temi (klasa Theme)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FT-Space Chaser — Filip Todorović, 66/22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26C7E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38528"/>
            <a:ext cx="324612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" y="1989205"/>
            <a:ext cx="2916936" cy="1421507"/>
          </a:xfrm>
          <a:prstGeom prst="roundRect">
            <a:avLst>
              <a:gd name="adj" fmla="val 4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B142A"/>
                </a:solidFill>
                <a:latin typeface="Calibri"/>
              </a:rPr>
              <a:t>Glavni meni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38528"/>
            <a:ext cx="324612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62272" y="1989205"/>
            <a:ext cx="2916936" cy="1421507"/>
          </a:xfrm>
          <a:prstGeom prst="roundRect">
            <a:avLst>
              <a:gd name="adj" fmla="val 4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347472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B142A"/>
                </a:solidFill>
                <a:latin typeface="Calibri"/>
              </a:rPr>
              <a:t>Podešavanja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938528"/>
            <a:ext cx="324612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36992" y="1980061"/>
            <a:ext cx="2916936" cy="1430651"/>
          </a:xfrm>
          <a:prstGeom prst="roundRect">
            <a:avLst>
              <a:gd name="adj" fmla="val 4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347472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B142A"/>
                </a:solidFill>
                <a:latin typeface="Calibri"/>
              </a:rPr>
              <a:t>Multiplejer / lobi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06240"/>
            <a:ext cx="324612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7552" y="4240722"/>
            <a:ext cx="2916936" cy="1412363"/>
          </a:xfrm>
          <a:prstGeom prst="roundRect">
            <a:avLst>
              <a:gd name="adj" fmla="val 4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71499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 dirty="0" err="1">
                <a:solidFill>
                  <a:srgbClr val="0B142A"/>
                </a:solidFill>
                <a:latin typeface="Calibri"/>
              </a:rPr>
              <a:t>Ekran</a:t>
            </a:r>
            <a:r>
              <a:rPr sz="1300" b="1" i="0" dirty="0">
                <a:solidFill>
                  <a:srgbClr val="0B142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B142A"/>
                </a:solidFill>
                <a:latin typeface="Calibri"/>
              </a:rPr>
              <a:t>igre</a:t>
            </a:r>
            <a:r>
              <a:rPr sz="1300" b="1" i="0" dirty="0">
                <a:solidFill>
                  <a:srgbClr val="0B142A"/>
                </a:solidFill>
                <a:latin typeface="Calibri"/>
              </a:rPr>
              <a:t> (HUD)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206240"/>
            <a:ext cx="324612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462272" y="4240722"/>
            <a:ext cx="2916936" cy="1412363"/>
          </a:xfrm>
          <a:prstGeom prst="roundRect">
            <a:avLst>
              <a:gd name="adj" fmla="val 4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79" y="5714999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 dirty="0" err="1">
                <a:solidFill>
                  <a:srgbClr val="0B142A"/>
                </a:solidFill>
                <a:latin typeface="Calibri"/>
              </a:rPr>
              <a:t>Pauza</a:t>
            </a:r>
            <a:r>
              <a:rPr sz="1300" b="1" i="0" dirty="0">
                <a:solidFill>
                  <a:srgbClr val="0B142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B142A"/>
                </a:solidFill>
                <a:latin typeface="Calibri"/>
              </a:rPr>
              <a:t>meni</a:t>
            </a:r>
            <a:endParaRPr sz="1300" b="1" i="0" dirty="0">
              <a:solidFill>
                <a:srgbClr val="0B142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772400" y="4206240"/>
            <a:ext cx="324612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36992" y="4240722"/>
            <a:ext cx="2916936" cy="1412363"/>
          </a:xfrm>
          <a:prstGeom prst="roundRect">
            <a:avLst>
              <a:gd name="adj" fmla="val 4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399" y="5714999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 dirty="0" err="1">
                <a:solidFill>
                  <a:srgbClr val="0B142A"/>
                </a:solidFill>
                <a:latin typeface="Calibri"/>
              </a:rPr>
              <a:t>Kraj</a:t>
            </a:r>
            <a:r>
              <a:rPr sz="1300" b="1" i="0" dirty="0">
                <a:solidFill>
                  <a:srgbClr val="0B142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B142A"/>
                </a:solidFill>
                <a:latin typeface="Calibri"/>
              </a:rPr>
              <a:t>igre</a:t>
            </a:r>
            <a:endParaRPr sz="1300" b="1" i="0" dirty="0">
              <a:solidFill>
                <a:srgbClr val="0B142A"/>
              </a:solidFill>
              <a:latin typeface="Calibri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A840388-3B8E-FE5D-D50F-9282231E9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624" y="1989205"/>
            <a:ext cx="2132792" cy="141096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DA97E4B-0714-96B2-E73C-5C7EE2F55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294" y="1980061"/>
            <a:ext cx="2150891" cy="14215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EF33356-8542-CEE7-BA5D-C4D17E016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817" y="1970917"/>
            <a:ext cx="2163283" cy="143065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9ED1530-E21A-4B7F-804F-38C9BBE88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548" y="4251540"/>
            <a:ext cx="2112943" cy="139072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D53CCD7-3A25-431E-04C0-2CE3600021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5294" y="4218248"/>
            <a:ext cx="2146505" cy="141236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D903AEE-E38F-B2E8-C7E5-02444E68D2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8986" y="4247724"/>
            <a:ext cx="2112943" cy="13945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920240" y="2834639"/>
            <a:ext cx="5852160" cy="5852160"/>
          </a:xfrm>
          <a:prstGeom prst="ellipse">
            <a:avLst/>
          </a:prstGeom>
          <a:noFill/>
          <a:ln w="15875">
            <a:solidFill>
              <a:srgbClr val="0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280160" y="3474720"/>
            <a:ext cx="4572000" cy="4572000"/>
          </a:xfrm>
          <a:prstGeom prst="ellipse">
            <a:avLst/>
          </a:prstGeom>
          <a:noFill/>
          <a:ln w="15875">
            <a:solidFill>
              <a:srgbClr val="0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114800"/>
            <a:ext cx="3291840" cy="3291840"/>
          </a:xfrm>
          <a:prstGeom prst="ellipse">
            <a:avLst/>
          </a:prstGeom>
          <a:noFill/>
          <a:ln w="15875">
            <a:solidFill>
              <a:srgbClr val="0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D9EE"/>
                </a:solidFill>
                <a:latin typeface="Calibri"/>
              </a:rPr>
              <a:t>ZAKLJUČAK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Rezultati i dalji rad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614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C7D0E2"/>
                </a:solidFill>
                <a:latin typeface="Calibri"/>
              </a:rPr>
              <a:t>Implementirana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je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kompletna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igra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FT-Space Chaser u Javi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i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libGDX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-u: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fizika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kretanja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, SAT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detekcija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kolizije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veštačka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inteligencija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(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konačni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automat </a:t>
            </a:r>
            <a:r>
              <a:rPr lang="en-US" sz="1600" b="0" i="0" dirty="0" err="1">
                <a:solidFill>
                  <a:srgbClr val="C7D0E2"/>
                </a:solidFill>
                <a:latin typeface="Calibri"/>
              </a:rPr>
              <a:t>i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A*),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sistem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talasa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i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mrežni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višeigrački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režim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(TCP + UDP, bez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eksternih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7D0E2"/>
                </a:solidFill>
                <a:latin typeface="Calibri"/>
              </a:rPr>
              <a:t>biblioteka</a:t>
            </a:r>
            <a:r>
              <a:rPr sz="1600" b="0" i="0" dirty="0">
                <a:solidFill>
                  <a:srgbClr val="C7D0E2"/>
                </a:solidFill>
                <a:latin typeface="Calibri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D9EE"/>
                </a:solidFill>
                <a:latin typeface="Calibri"/>
              </a:rPr>
              <a:t>PRAVCI DALJEG 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3327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 algn="l">
              <a:buClr>
                <a:srgbClr val="00D9EE"/>
              </a:buClr>
              <a:buFont typeface="Arial"/>
              <a:buChar char="▪"/>
            </a:pPr>
            <a:r>
              <a:rPr sz="1500" dirty="0" err="1">
                <a:solidFill>
                  <a:srgbClr val="FFFFFF"/>
                </a:solidFill>
                <a:latin typeface="Calibri"/>
              </a:rPr>
              <a:t>Zvučni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efekti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i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muzika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(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trenutno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igra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nema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audio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sadržaj</a:t>
            </a:r>
            <a:r>
              <a:rPr sz="1500" dirty="0">
                <a:solidFill>
                  <a:srgbClr val="FFFFFF"/>
                </a:solidFill>
                <a:latin typeface="Calibri"/>
              </a:rPr>
              <a:t>)</a:t>
            </a:r>
          </a:p>
          <a:p>
            <a:pPr marL="182880" indent="-182880" algn="l">
              <a:buClr>
                <a:srgbClr val="00D9EE"/>
              </a:buClr>
              <a:buFont typeface="Arial"/>
              <a:buChar char="▪"/>
            </a:pPr>
            <a:r>
              <a:rPr sz="1500" dirty="0" err="1">
                <a:solidFill>
                  <a:srgbClr val="FFFFFF"/>
                </a:solidFill>
                <a:latin typeface="Calibri"/>
              </a:rPr>
              <a:t>Mreža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preko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interneta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(matchmaking server)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umesto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samo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LAN-a</a:t>
            </a:r>
          </a:p>
          <a:p>
            <a:pPr marL="182880" indent="-182880" algn="l">
              <a:buClr>
                <a:srgbClr val="00D9EE"/>
              </a:buClr>
              <a:buFont typeface="Arial"/>
              <a:buChar char="▪"/>
            </a:pPr>
            <a:r>
              <a:rPr sz="1500" dirty="0" err="1">
                <a:solidFill>
                  <a:srgbClr val="FFFFFF"/>
                </a:solidFill>
                <a:latin typeface="Calibri"/>
              </a:rPr>
              <a:t>Podrška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za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više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od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dva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igrača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po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partiji</a:t>
            </a:r>
            <a:endParaRPr sz="1500" dirty="0">
              <a:solidFill>
                <a:srgbClr val="FFFFFF"/>
              </a:solidFill>
              <a:latin typeface="Calibri"/>
            </a:endParaRPr>
          </a:p>
          <a:p>
            <a:pPr marL="182880" indent="-182880" algn="l">
              <a:buClr>
                <a:srgbClr val="00D9EE"/>
              </a:buClr>
              <a:buFont typeface="Arial"/>
              <a:buChar char="▪"/>
            </a:pPr>
            <a:r>
              <a:rPr sz="1500" dirty="0" err="1">
                <a:solidFill>
                  <a:srgbClr val="FFFFFF"/>
                </a:solidFill>
                <a:latin typeface="Calibri"/>
              </a:rPr>
              <a:t>Raznovrsniji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neprijatelji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i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oružja</a:t>
            </a:r>
            <a:r>
              <a:rPr sz="1500" dirty="0">
                <a:solidFill>
                  <a:srgbClr val="FFFFFF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automatizovano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testiranje</a:t>
            </a:r>
            <a:endParaRPr sz="15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26C7E"/>
                </a:solidFill>
                <a:latin typeface="Calibri"/>
              </a:rPr>
              <a:t>Hvala na pažnji.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999</Words>
  <Application>Microsoft Office PowerPoint</Application>
  <PresentationFormat>Widescreen</PresentationFormat>
  <Paragraphs>202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Todorovic</cp:lastModifiedBy>
  <cp:revision>4</cp:revision>
  <dcterms:created xsi:type="dcterms:W3CDTF">2013-01-27T09:14:16Z</dcterms:created>
  <dcterms:modified xsi:type="dcterms:W3CDTF">2026-09-22T09:57:49Z</dcterms:modified>
  <cp:category/>
</cp:coreProperties>
</file>